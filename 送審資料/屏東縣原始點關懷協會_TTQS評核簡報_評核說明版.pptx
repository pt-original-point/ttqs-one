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f275a27c6428e" /><Relationship Type="http://schemas.openxmlformats.org/officeDocument/2006/relationships/extended-properties" Target="/docProps/app.xml" Id="Re549192a39d7411a" /><Relationship Type="http://schemas.openxmlformats.org/officeDocument/2006/relationships/officeDocument" Target="/ppt/presentation.xml" Id="Rb932ba49f72e4c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c03e40f1154dd3"/>
  </p:sldMasterIdLst>
  <p:notesMasterIdLst>
    <p:notesMasterId xmlns:r="http://schemas.openxmlformats.org/officeDocument/2006/relationships" r:id="Red8ef4b703c4467d"/>
  </p:notesMasterIdLst>
  <p:sldIdLst>
    <p:sldId xmlns:r="http://schemas.openxmlformats.org/officeDocument/2006/relationships" id="256" r:id="Rf7161c53fb5747f9"/>
    <p:sldId xmlns:r="http://schemas.openxmlformats.org/officeDocument/2006/relationships" id="257" r:id="R4a5c1bf68c984d3c"/>
    <p:sldId xmlns:r="http://schemas.openxmlformats.org/officeDocument/2006/relationships" id="258" r:id="Ra1d44e7e26c34bd4"/>
    <p:sldId xmlns:r="http://schemas.openxmlformats.org/officeDocument/2006/relationships" id="259" r:id="Rb5702c54f94b4ab8"/>
    <p:sldId xmlns:r="http://schemas.openxmlformats.org/officeDocument/2006/relationships" id="260" r:id="R9762d7c0bba848c6"/>
    <p:sldId xmlns:r="http://schemas.openxmlformats.org/officeDocument/2006/relationships" id="261" r:id="R15391c61789f454c"/>
    <p:sldId xmlns:r="http://schemas.openxmlformats.org/officeDocument/2006/relationships" id="262" r:id="Rd46e32bb17f843f4"/>
    <p:sldId xmlns:r="http://schemas.openxmlformats.org/officeDocument/2006/relationships" id="263" r:id="Re7e20d38f52a4622"/>
    <p:sldId xmlns:r="http://schemas.openxmlformats.org/officeDocument/2006/relationships" id="264" r:id="R858fc23930744c37"/>
    <p:sldId xmlns:r="http://schemas.openxmlformats.org/officeDocument/2006/relationships" id="265" r:id="R4c6c73da099d479d"/>
    <p:sldId xmlns:r="http://schemas.openxmlformats.org/officeDocument/2006/relationships" id="266" r:id="R2eb48819e1c246d5"/>
    <p:sldId xmlns:r="http://schemas.openxmlformats.org/officeDocument/2006/relationships" id="267" r:id="R5eb110c3320b42f6"/>
    <p:sldId xmlns:r="http://schemas.openxmlformats.org/officeDocument/2006/relationships" id="268" r:id="R5f347d96ba704b14"/>
    <p:sldId xmlns:r="http://schemas.openxmlformats.org/officeDocument/2006/relationships" id="269" r:id="Rb44125dc8ce84dbe"/>
    <p:sldId xmlns:r="http://schemas.openxmlformats.org/officeDocument/2006/relationships" id="270" r:id="R26f2d92742644967"/>
    <p:sldId xmlns:r="http://schemas.openxmlformats.org/officeDocument/2006/relationships" id="271" r:id="Rb2879fd893d9446e"/>
    <p:sldId xmlns:r="http://schemas.openxmlformats.org/officeDocument/2006/relationships" id="272" r:id="Rf477ea2a772143a5"/>
    <p:sldId xmlns:r="http://schemas.openxmlformats.org/officeDocument/2006/relationships" id="273" r:id="R45a8b8ca300e4840"/>
    <p:sldId xmlns:r="http://schemas.openxmlformats.org/officeDocument/2006/relationships" id="274" r:id="Rcc2a0c7a8a4a4271"/>
    <p:sldId xmlns:r="http://schemas.openxmlformats.org/officeDocument/2006/relationships" id="275" r:id="R41487f9e66cc4230"/>
    <p:sldId xmlns:r="http://schemas.openxmlformats.org/officeDocument/2006/relationships" id="276" r:id="R533fce616c7240ba"/>
    <p:sldId xmlns:r="http://schemas.openxmlformats.org/officeDocument/2006/relationships" id="277" r:id="R79f22ce203374e8c"/>
    <p:sldId xmlns:r="http://schemas.openxmlformats.org/officeDocument/2006/relationships" id="278" r:id="Rc6ebd311aeb84b39"/>
    <p:sldId xmlns:r="http://schemas.openxmlformats.org/officeDocument/2006/relationships" id="279" r:id="Rae110878ecfa4756"/>
    <p:sldId xmlns:r="http://schemas.openxmlformats.org/officeDocument/2006/relationships" id="280" r:id="R06d4d3f97f5f4574"/>
    <p:sldId xmlns:r="http://schemas.openxmlformats.org/officeDocument/2006/relationships" id="281" r:id="Raf1232e56e2a4e55"/>
    <p:sldId xmlns:r="http://schemas.openxmlformats.org/officeDocument/2006/relationships" id="282" r:id="R3b0421bc52284cbf"/>
    <p:sldId xmlns:r="http://schemas.openxmlformats.org/officeDocument/2006/relationships" id="283" r:id="R5646806d74b84066"/>
    <p:sldId xmlns:r="http://schemas.openxmlformats.org/officeDocument/2006/relationships" id="284" r:id="R18743a52be2845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66a3962164ee6" /><Relationship Type="http://schemas.openxmlformats.org/officeDocument/2006/relationships/slideMaster" Target="/ppt/slideMasters/slideMaster1.xml" Id="R70c03e40f1154dd3" /><Relationship Type="http://schemas.openxmlformats.org/officeDocument/2006/relationships/notesMaster" Target="/ppt/notesMasters/notesMaster1.xml" Id="Red8ef4b703c4467d" /><Relationship Type="http://schemas.openxmlformats.org/officeDocument/2006/relationships/presProps" Target="/ppt/presProps.xml" Id="R227168ec933b4749" /><Relationship Type="http://schemas.openxmlformats.org/officeDocument/2006/relationships/tableStyles" Target="/ppt/tableStyles.xml" Id="Rd1a735e8638a45a7" /><Relationship Type="http://schemas.openxmlformats.org/officeDocument/2006/relationships/slide" Target="/ppt/slides/slide1.xml" Id="Rf7161c53fb5747f9" /><Relationship Type="http://schemas.openxmlformats.org/officeDocument/2006/relationships/slide" Target="/ppt/slides/slide2.xml" Id="R4a5c1bf68c984d3c" /><Relationship Type="http://schemas.openxmlformats.org/officeDocument/2006/relationships/slide" Target="/ppt/slides/slide3.xml" Id="Ra1d44e7e26c34bd4" /><Relationship Type="http://schemas.openxmlformats.org/officeDocument/2006/relationships/slide" Target="/ppt/slides/slide4.xml" Id="Rb5702c54f94b4ab8" /><Relationship Type="http://schemas.openxmlformats.org/officeDocument/2006/relationships/slide" Target="/ppt/slides/slide5.xml" Id="R9762d7c0bba848c6" /><Relationship Type="http://schemas.openxmlformats.org/officeDocument/2006/relationships/slide" Target="/ppt/slides/slide6.xml" Id="R15391c61789f454c" /><Relationship Type="http://schemas.openxmlformats.org/officeDocument/2006/relationships/slide" Target="/ppt/slides/slide7.xml" Id="Rd46e32bb17f843f4" /><Relationship Type="http://schemas.openxmlformats.org/officeDocument/2006/relationships/slide" Target="/ppt/slides/slide8.xml" Id="Re7e20d38f52a4622" /><Relationship Type="http://schemas.openxmlformats.org/officeDocument/2006/relationships/slide" Target="/ppt/slides/slide9.xml" Id="R858fc23930744c37" /><Relationship Type="http://schemas.openxmlformats.org/officeDocument/2006/relationships/slide" Target="/ppt/slides/slide10.xml" Id="R4c6c73da099d479d" /><Relationship Type="http://schemas.openxmlformats.org/officeDocument/2006/relationships/slide" Target="/ppt/slides/slide11.xml" Id="R2eb48819e1c246d5" /><Relationship Type="http://schemas.openxmlformats.org/officeDocument/2006/relationships/slide" Target="/ppt/slides/slide12.xml" Id="R5eb110c3320b42f6" /><Relationship Type="http://schemas.openxmlformats.org/officeDocument/2006/relationships/slide" Target="/ppt/slides/slide13.xml" Id="R5f347d96ba704b14" /><Relationship Type="http://schemas.openxmlformats.org/officeDocument/2006/relationships/slide" Target="/ppt/slides/slide14.xml" Id="Rb44125dc8ce84dbe" /><Relationship Type="http://schemas.openxmlformats.org/officeDocument/2006/relationships/slide" Target="/ppt/slides/slide15.xml" Id="R26f2d92742644967" /><Relationship Type="http://schemas.openxmlformats.org/officeDocument/2006/relationships/slide" Target="/ppt/slides/slide16.xml" Id="Rb2879fd893d9446e" /><Relationship Type="http://schemas.openxmlformats.org/officeDocument/2006/relationships/slide" Target="/ppt/slides/slide17.xml" Id="Rf477ea2a772143a5" /><Relationship Type="http://schemas.openxmlformats.org/officeDocument/2006/relationships/slide" Target="/ppt/slides/slide18.xml" Id="R45a8b8ca300e4840" /><Relationship Type="http://schemas.openxmlformats.org/officeDocument/2006/relationships/slide" Target="/ppt/slides/slide19.xml" Id="Rcc2a0c7a8a4a4271" /><Relationship Type="http://schemas.openxmlformats.org/officeDocument/2006/relationships/slide" Target="/ppt/slides/slide20.xml" Id="R41487f9e66cc4230" /><Relationship Type="http://schemas.openxmlformats.org/officeDocument/2006/relationships/slide" Target="/ppt/slides/slide21.xml" Id="R533fce616c7240ba" /><Relationship Type="http://schemas.openxmlformats.org/officeDocument/2006/relationships/slide" Target="/ppt/slides/slide22.xml" Id="R79f22ce203374e8c" /><Relationship Type="http://schemas.openxmlformats.org/officeDocument/2006/relationships/slide" Target="/ppt/slides/slide23.xml" Id="Rc6ebd311aeb84b39" /><Relationship Type="http://schemas.openxmlformats.org/officeDocument/2006/relationships/slide" Target="/ppt/slides/slide24.xml" Id="Rae110878ecfa4756" /><Relationship Type="http://schemas.openxmlformats.org/officeDocument/2006/relationships/slide" Target="/ppt/slides/slide25.xml" Id="R06d4d3f97f5f4574" /><Relationship Type="http://schemas.openxmlformats.org/officeDocument/2006/relationships/slide" Target="/ppt/slides/slide26.xml" Id="Raf1232e56e2a4e55" /><Relationship Type="http://schemas.openxmlformats.org/officeDocument/2006/relationships/slide" Target="/ppt/slides/slide27.xml" Id="R3b0421bc52284cbf" /><Relationship Type="http://schemas.openxmlformats.org/officeDocument/2006/relationships/slide" Target="/ppt/slides/slide28.xml" Id="R5646806d74b84066" /><Relationship Type="http://schemas.openxmlformats.org/officeDocument/2006/relationships/slide" Target="/ppt/slides/slide29.xml" Id="R18743a52be2845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573bb410d647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a6391141e4626" /><Relationship Type="http://schemas.openxmlformats.org/officeDocument/2006/relationships/notesMaster" Target="/ppt/notesMasters/notesMaster1.xml" Id="R4dd307ed0b0d48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a9112c96d748cb" /><Relationship Type="http://schemas.openxmlformats.org/officeDocument/2006/relationships/notesMaster" Target="/ppt/notesMasters/notesMaster1.xml" Id="R5b580b37be4545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2aa246e7a400b" /><Relationship Type="http://schemas.openxmlformats.org/officeDocument/2006/relationships/notesMaster" Target="/ppt/notesMasters/notesMaster1.xml" Id="Re342aa98383542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8761d4ab424f78" /><Relationship Type="http://schemas.openxmlformats.org/officeDocument/2006/relationships/notesMaster" Target="/ppt/notesMasters/notesMaster1.xml" Id="Re3f23b45dd674e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b4a2d2141d42a1" /><Relationship Type="http://schemas.openxmlformats.org/officeDocument/2006/relationships/notesMaster" Target="/ppt/notesMasters/notesMaster1.xml" Id="Rf1fa5a2044c84e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4bb699b6f4005" /><Relationship Type="http://schemas.openxmlformats.org/officeDocument/2006/relationships/notesMaster" Target="/ppt/notesMasters/notesMaster1.xml" Id="R5e9801d2d4f24a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b4498a4e44499d" /><Relationship Type="http://schemas.openxmlformats.org/officeDocument/2006/relationships/notesMaster" Target="/ppt/notesMasters/notesMaster1.xml" Id="R8b6e206075574b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1c9fc4b4f94112" /><Relationship Type="http://schemas.openxmlformats.org/officeDocument/2006/relationships/notesMaster" Target="/ppt/notesMasters/notesMaster1.xml" Id="R312a2b24792f4f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ad7bfa77844880" /><Relationship Type="http://schemas.openxmlformats.org/officeDocument/2006/relationships/notesMaster" Target="/ppt/notesMasters/notesMaster1.xml" Id="R6cbf95cbfd0f45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20025b69454438" /><Relationship Type="http://schemas.openxmlformats.org/officeDocument/2006/relationships/notesMaster" Target="/ppt/notesMasters/notesMaster1.xml" Id="R9654d711dd8d43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a7630aa2a148ed" /><Relationship Type="http://schemas.openxmlformats.org/officeDocument/2006/relationships/notesMaster" Target="/ppt/notesMasters/notesMaster1.xml" Id="Rb762dd4ac15848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97730c36134736" /><Relationship Type="http://schemas.openxmlformats.org/officeDocument/2006/relationships/notesMaster" Target="/ppt/notesMasters/notesMaster1.xml" Id="R710d6749f45d4f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98dc6f96cc4329" /><Relationship Type="http://schemas.openxmlformats.org/officeDocument/2006/relationships/notesMaster" Target="/ppt/notesMasters/notesMaster1.xml" Id="R4e8292f645b840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2e27ec25444645" /><Relationship Type="http://schemas.openxmlformats.org/officeDocument/2006/relationships/notesMaster" Target="/ppt/notesMasters/notesMaster1.xml" Id="R9912437ff8a240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1d22c218f54b52" /><Relationship Type="http://schemas.openxmlformats.org/officeDocument/2006/relationships/notesMaster" Target="/ppt/notesMasters/notesMaster1.xml" Id="R9f960080db2f4d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f41b5f2fa14ca4" /><Relationship Type="http://schemas.openxmlformats.org/officeDocument/2006/relationships/notesMaster" Target="/ppt/notesMasters/notesMaster1.xml" Id="Rdb31134480ba4b1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37935f42aa40b6" /><Relationship Type="http://schemas.openxmlformats.org/officeDocument/2006/relationships/notesMaster" Target="/ppt/notesMasters/notesMaster1.xml" Id="R5f631d36cc0d42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ac5231bd1a4061" /><Relationship Type="http://schemas.openxmlformats.org/officeDocument/2006/relationships/notesMaster" Target="/ppt/notesMasters/notesMaster1.xml" Id="R41f6337225c94d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a3d6f189074418b" /><Relationship Type="http://schemas.openxmlformats.org/officeDocument/2006/relationships/notesMaster" Target="/ppt/notesMasters/notesMaster1.xml" Id="R865734c45b2d4a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b26c7732684d27" /><Relationship Type="http://schemas.openxmlformats.org/officeDocument/2006/relationships/notesMaster" Target="/ppt/notesMasters/notesMaster1.xml" Id="Rbadcdb7663ba45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059b679b054853" /><Relationship Type="http://schemas.openxmlformats.org/officeDocument/2006/relationships/notesMaster" Target="/ppt/notesMasters/notesMaster1.xml" Id="Rb5b112282a2443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dfc4641372478b" /><Relationship Type="http://schemas.openxmlformats.org/officeDocument/2006/relationships/notesMaster" Target="/ppt/notesMasters/notesMaster1.xml" Id="R516129c1eb4749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e3f111bfa943f6" /><Relationship Type="http://schemas.openxmlformats.org/officeDocument/2006/relationships/notesMaster" Target="/ppt/notesMasters/notesMaster1.xml" Id="Rc390b60a5d824c6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519464a71f4260" /><Relationship Type="http://schemas.openxmlformats.org/officeDocument/2006/relationships/notesMaster" Target="/ppt/notesMasters/notesMaster1.xml" Id="Rc2c74bbd493b4d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4233787e0ff4945" /><Relationship Type="http://schemas.openxmlformats.org/officeDocument/2006/relationships/notesMaster" Target="/ppt/notesMasters/notesMaster1.xml" Id="Ra44ac17f9c1c4e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ce0c26c77d4eae" /><Relationship Type="http://schemas.openxmlformats.org/officeDocument/2006/relationships/notesMaster" Target="/ppt/notesMasters/notesMaster1.xml" Id="Rfd19e3bb096a42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d2e27a46cc4450c" /><Relationship Type="http://schemas.openxmlformats.org/officeDocument/2006/relationships/notesMaster" Target="/ppt/notesMasters/notesMaster1.xml" Id="Rf323782f034a49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6fbd9d73a874287" /><Relationship Type="http://schemas.openxmlformats.org/officeDocument/2006/relationships/notesMaster" Target="/ppt/notesMasters/notesMaster1.xml" Id="R4c07bf71f79043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4fdf31d54c3403b" /><Relationship Type="http://schemas.openxmlformats.org/officeDocument/2006/relationships/notesMaster" Target="/ppt/notesMasters/notesMaster1.xml" Id="R896294896d1946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本簡報按指定範本的19項指標架構改寫。本會未提供本版正式核定紀錄；方法與填寫示例均不冒充已執行成果。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本頁方法詳見手冊。建議規則須經本會確認採用，執行成果須另核對原始紀錄。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官網 https://ptysd.org/ 及 /about/index.html、/announcements/index.html，2026-10-05讀取。核心優先及多元課程規劃另依本會既有中長程規劃，未宣稱已開班。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角色不等於四名固定人員，不是新設行政部門。未指定實際人選，不能宣稱已建立固定備援。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本頁方法詳見手冊。建議規則須經本會確認採用，執行成果須另核對原始紀錄。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官方名稱：訓練機構未來經營方向及目標之訂定。官方資料表及指定範本為方法依據。本頁為建議工作方法，未證明本會已採用或執行。手冊第5頁詳述；需配合本會真實原件。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官方名稱：對外明確的訓練政策。官方資料表及指定範本為方法依據。本頁為建議工作方法，未證明本會已採用或執行。手冊第6頁詳述；需配合本會真實原件。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官方名稱：明確的PDDRO訓練課程及明確的核心訓練類別。官方資料表及指定範本為方法依據。本頁為建議工作方法，未證明本會已採用或執行。手冊第6頁詳述；需配合本會真實原件。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官方名稱：訓練品質管理的系統化文件資訊。官方資料表及指定範本為方法依據。本頁為建議工作方法，未證明本會已採用或執行。手冊第7頁詳述；需配合本會真實原件。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官方名稱：訓練規劃及經營目標的連結性。官方資料表及指定範本為方法依據。本頁為建議工作方法，未證明本會已採用或執行。手冊第5頁詳述；需配合本會真實原件。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官方名稱：訓練機構的行政管理能力及訓練主管相關職能。官方資料表及指定範本為方法依據。本頁為建議工作方法，未證明本會已採用或執行。手冊第8頁詳述；需配合本會真實原件。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官方名稱：訓練需求相關的職能分析及應用。官方資料表及指定範本為方法依據。本頁為建議工作方法，未證明本會已採用或執行。手冊第9頁詳述；需配合本會真實原件。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官方名稱：訓練方案的系統設計。官方資料表及指定範本為方法依據。本頁為建議工作方法，未證明本會已採用或執行。手冊第10頁詳述；需配合本會真實原件。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官方名稱：利益關係人的參與過程。官方資料表及指定範本為方法依據。本頁為建議工作方法，未證明本會已採用或執行。手冊第11頁詳述；需配合本會真實原件。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官方名稱：訓練資源的採購程序及甄選標準。官方資料表及指定範本為方法依據。本頁為建議工作方法，未證明本會已採用或執行。手冊第12頁詳述；需配合本會真實原件。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官方名稱：訓練計畫及目標需求的結合。官方資料表及指定範本為方法依據。本頁為建議工作方法，未證明本會已採用或執行。手冊第10頁詳述；需配合本會真實原件。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官方名稱：訓練內涵按計畫執行的程度。官方資料表及指定範本為方法依據。本頁為建議工作方法，未證明本會已採用或執行。手冊第13頁詳述；需配合本會真實原件。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官方名稱：提供學習成果移轉的建議或協助。官方資料表及指定範本為方法依據。本頁為建議工作方法，未證明本會已採用或執行。手冊第14頁詳述；需配合本會真實原件。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官方名稱：訓練資料分類及建檔與管理資訊系統化。官方資料表及指定範本為方法依據。本頁為建議工作方法，未證明本會已採用或執行。手冊第7頁詳述；需配合本會真實原件。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官方名稱：評估報告與定期性綜合分析。官方資料表及指定範本為方法依據。本頁為建議工作方法，未證明本會已採用或執行。手冊第15頁詳述；需配合本會真實原件。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官方名稱：監控與異常矯正處理。官方資料表及指定範本為方法依據。本頁為建議工作方法，未證明本會已採用或執行。手冊第16頁詳述；需配合本會真實原件。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官方名稱：訓練成果評估的多元性和完整性。官方資料表及指定範本為方法依據。本頁為建議工作方法，未證明本會已採用或執行。手冊第17頁詳述；需配合本會真實原件。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官方名稱：訓練系統的一般性功能 目標客戶及學員的評價。官方資料表及指定範本為方法依據。本頁為建議工作方法，未證明本會已採用或執行。手冊第18頁詳述；需配合本會真實原件。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官方名稱：訓練系統的市場功能 目標市場及顧客的價值創造。官方資料表及指定範本為方法依據。本頁為建議工作方法，未證明本會已採用或執行。手冊第18頁詳述；需配合本會真實原件。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本頁為表9出席及補測教學案例，數字全部虛擬，不能當本會已辦課成果。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配對採表9同一組首次受測7人的示例作品。第8人缺課未受測，不納入首次配對，補課結果另留。所有數字均為虛擬，不作本會實績。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本例僅示範改善的紀錄方法。尚無下一班真實驗證結果，不宣稱改善成功。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本頁方法詳見手冊。建議規則須經本會確認採用，執行成果須另核對原始紀錄。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本簡報按人類說明、指定範本、官網與官方資料表編製。不能以示例取代本會實績，評分由委員依實際運作判斷。</a:t>
            </a:r>
          </a:p>
          <a:p xmlns:a="http://schemas.openxmlformats.org/drawingml/2006/main">
            <a:r>
              <a:t>資料來源：人類本次說明、指定訓練品質管理系統手冊與123頁範本簡報、協會官網 https://ptysd.org/ 及官方TTQS查核佐證文件資料表訓練機構版。官網資料於2026年10月5日讀取。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e6d75e25a4f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e8ff61fe2e4ced" /><Relationship Type="http://schemas.openxmlformats.org/officeDocument/2006/relationships/slideLayout" Target="/ppt/slideLayouts/slideLayout1.xml" Id="R51760f9ec32c45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60f9ec32c45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b31b4f6b8405d" /><Relationship Type="http://schemas.openxmlformats.org/officeDocument/2006/relationships/notesSlide" Target="/ppt/notesSlides/notesSlide1.xml" Id="Rbc3339ff35ca43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199c4bd4546ea" /><Relationship Type="http://schemas.openxmlformats.org/officeDocument/2006/relationships/notesSlide" Target="/ppt/notesSlides/notesSlide2.xml" Id="R21ecb9b843fd4d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9c0f0ed854298" /><Relationship Type="http://schemas.openxmlformats.org/officeDocument/2006/relationships/notesSlide" Target="/ppt/notesSlides/notesSlide3.xml" Id="Rf596f28de78445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d00ad9c284598" /><Relationship Type="http://schemas.openxmlformats.org/officeDocument/2006/relationships/notesSlide" Target="/ppt/notesSlides/notesSlide4.xml" Id="Rdd4034f629bd4c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a9a70d56c4eeb" /><Relationship Type="http://schemas.openxmlformats.org/officeDocument/2006/relationships/notesSlide" Target="/ppt/notesSlides/notesSlide5.xml" Id="R98a9a8b6d5504c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a06873ba247b5" /><Relationship Type="http://schemas.openxmlformats.org/officeDocument/2006/relationships/notesSlide" Target="/ppt/notesSlides/notesSlide6.xml" Id="Ra09f6fc044d04c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b160952984f12" /><Relationship Type="http://schemas.openxmlformats.org/officeDocument/2006/relationships/notesSlide" Target="/ppt/notesSlides/notesSlide7.xml" Id="R1c7ad08d656346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d2e4a74b64f8f" /><Relationship Type="http://schemas.openxmlformats.org/officeDocument/2006/relationships/notesSlide" Target="/ppt/notesSlides/notesSlide8.xml" Id="R7ed822c4bf224c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22f33bf6f492e" /><Relationship Type="http://schemas.openxmlformats.org/officeDocument/2006/relationships/notesSlide" Target="/ppt/notesSlides/notesSlide9.xml" Id="R3891ab4714ad40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ce6f6b5d34ab8" /><Relationship Type="http://schemas.openxmlformats.org/officeDocument/2006/relationships/notesSlide" Target="/ppt/notesSlides/notesSlide10.xml" Id="Re45b75a2f9584b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67b2a3ab143f6" /><Relationship Type="http://schemas.openxmlformats.org/officeDocument/2006/relationships/notesSlide" Target="/ppt/notesSlides/notesSlide11.xml" Id="R0cc56f8446ca49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ef818c7434a3c" /><Relationship Type="http://schemas.openxmlformats.org/officeDocument/2006/relationships/notesSlide" Target="/ppt/notesSlides/notesSlide12.xml" Id="Rb57733f16d1b43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f43e28b6e4e0f" /><Relationship Type="http://schemas.openxmlformats.org/officeDocument/2006/relationships/notesSlide" Target="/ppt/notesSlides/notesSlide13.xml" Id="R71598611e5ce4b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9662aa7ea4ad0" /><Relationship Type="http://schemas.openxmlformats.org/officeDocument/2006/relationships/notesSlide" Target="/ppt/notesSlides/notesSlide14.xml" Id="R8ca091ecdca349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8171772c94895" /><Relationship Type="http://schemas.openxmlformats.org/officeDocument/2006/relationships/notesSlide" Target="/ppt/notesSlides/notesSlide15.xml" Id="Ra83bacd2c9674c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41f471fec4ef4" /><Relationship Type="http://schemas.openxmlformats.org/officeDocument/2006/relationships/notesSlide" Target="/ppt/notesSlides/notesSlide16.xml" Id="R2937533f5ede46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db645970d4d50" /><Relationship Type="http://schemas.openxmlformats.org/officeDocument/2006/relationships/notesSlide" Target="/ppt/notesSlides/notesSlide17.xml" Id="Rbef7fec4135c4a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bef106b914eb0" /><Relationship Type="http://schemas.openxmlformats.org/officeDocument/2006/relationships/notesSlide" Target="/ppt/notesSlides/notesSlide18.xml" Id="Rf8858ce47a4147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3c5dc605147f8" /><Relationship Type="http://schemas.openxmlformats.org/officeDocument/2006/relationships/notesSlide" Target="/ppt/notesSlides/notesSlide19.xml" Id="Rd50cd53577524d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ea498529d4a37" /><Relationship Type="http://schemas.openxmlformats.org/officeDocument/2006/relationships/notesSlide" Target="/ppt/notesSlides/notesSlide20.xml" Id="R1f1bf8089b7e4e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814b23e9441cd" /><Relationship Type="http://schemas.openxmlformats.org/officeDocument/2006/relationships/notesSlide" Target="/ppt/notesSlides/notesSlide21.xml" Id="R66b43be4e7e74e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b0c5253554e8a" /><Relationship Type="http://schemas.openxmlformats.org/officeDocument/2006/relationships/notesSlide" Target="/ppt/notesSlides/notesSlide22.xml" Id="Rf7a2f85686c148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0b3dff1dd42f1" /><Relationship Type="http://schemas.openxmlformats.org/officeDocument/2006/relationships/notesSlide" Target="/ppt/notesSlides/notesSlide23.xml" Id="R1a7932438ba948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abf70050e4b48" /><Relationship Type="http://schemas.openxmlformats.org/officeDocument/2006/relationships/notesSlide" Target="/ppt/notesSlides/notesSlide24.xml" Id="R4e92e46288084f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2be92352f4d9b" /><Relationship Type="http://schemas.openxmlformats.org/officeDocument/2006/relationships/notesSlide" Target="/ppt/notesSlides/notesSlide25.xml" Id="Rbb7593512e6d4e3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c9ea526584104" /><Relationship Type="http://schemas.openxmlformats.org/officeDocument/2006/relationships/notesSlide" Target="/ppt/notesSlides/notesSlide26.xml" Id="R99be37217ea44c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17203661b4666" /><Relationship Type="http://schemas.openxmlformats.org/officeDocument/2006/relationships/notesSlide" Target="/ppt/notesSlides/notesSlide27.xml" Id="R33a5d4e4ba9b4c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bac033a144bcb" /><Relationship Type="http://schemas.openxmlformats.org/officeDocument/2006/relationships/notesSlide" Target="/ppt/notesSlides/notesSlide28.xml" Id="Re566cc5d99bf4b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08237feea471b" /><Relationship Type="http://schemas.openxmlformats.org/officeDocument/2006/relationships/notesSlide" Target="/ppt/notesSlides/notesSlide29.xml" Id="R657d271865cb4d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ssociation">
            <a:extLst xmlns:a="http://schemas.openxmlformats.org/drawingml/2006/main">
              <a:ext uri="{FF2B5EF4-FFF2-40B4-BE49-F238E27FC236}">
                <a16:creationId xmlns:a16="http://schemas.microsoft.com/office/drawing/2014/main" id="{5552B8C1-6FDF-4A9C-A09B-9A47442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社團法人屏東縣原始點關懷協會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3A643C-839D-4114-8ECA-7C81F565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訓練品質管理評核說明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4E0571D-4F74-42B0-A4F2-30277AB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志工分工、白話教學與可查的紀錄</a:t>
            </a:r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0D193F14-65D1-49F3-8515-E1BAA3D3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2026年10月5日　評核說明版</a:t>
            </a:r>
          </a:p>
        </p:txBody>
      </p:sp>
    </p:spTree>
    <p:extLst>
      <p:ext uri="{BB962C8B-B14F-4D97-AF65-F5344CB8AC3E}">
        <p14:creationId xmlns:p14="http://schemas.microsoft.com/office/powerpoint/2010/main" val="1641978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E43B48D2-419D-4451-BD3A-8EEF868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本次說明的資料範圍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8C13741-C9CD-4C2D-ACA2-0EC770A5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協會現況、建議工作方法與示例分開呈現。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88DC729-4A13-4A08-A14A-BF6BC191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已知現況：本會沒有受僱工作人員，日常靠志工協助。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10A9348E-2515-4ED1-9834-C63CADB6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EA21D92-A087-488B-9E02-ED8037D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建議方法：課前到課後的完整辦法，供本會確認採用。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A108D10-AD88-47DB-BE89-B3753E0D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96939FF-8BE5-459D-A90A-BA12F478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填寫示例：教志工怎麼寫，全部虛擬，不能當成實績。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8FB4388-F2E8-4DF7-9DDE-BA269CE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7BE504C-8DB5-4AD0-9E65-0FA4A5F5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3938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執行成果須搭配本會原始紀錄，本版不自行宣稱分數。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8CE26F3C-ADFA-409D-9A5D-19AB8559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3463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9A45B33-6A44-461A-ABEC-AB944FC3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手冊第1至2頁　資料範圍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D11826BA-BCCD-4B35-BC5E-7C168015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245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B64B33D5-7CED-40F9-BC35-2F533E1C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協會的服務與課程定位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F8EEF26-E180-4134-A882-FAA7516A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在屏東推廣公益健康教育、日常保健自學及長者關懷。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82397FE-FF52-4C1D-9BF9-F1062985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核心先做穩，再依實際需要考慮其他適合的課程。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B10AF048-ED1E-46A0-8E3B-57C91E9F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B33FB26-78E0-41AE-ADBA-A91AF5C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本會及志工非醫療機構與醫事人員，不承諾療效。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770DC50-BB9D-4604-A6FA-F6D627D9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D60C37C-D1AA-4DAF-9452-E2A3915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身體不適尋求醫療專業協助，緊急危險立即求援。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CB67673-1609-44FD-AC73-51387F92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995D9609-62D1-45CF-812A-F8F184A0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3938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官網不提供線上報名表單，活動時程先電話確認。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E19E1546-843E-4DEA-864D-F9999843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3463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4C506AA-2087-4B91-8422-56BC37C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手冊第4至6頁　官網定位及規劃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5290B49-F3EB-4084-A692-A2BF117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341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4479E7C-FDFD-4D8B-9753-B91E7F75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志工分工與備援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166A789-0724-4E98-90E6-CEC5417D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工作角色可以兼任，重要決定與結案要有人核對。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做什麼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</a:tr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決策與授權者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依章程確認辦課、預算及重大變更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訓練召集志工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需求、教案、講師及課後檢討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當班與資料志工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通知、簽到、安全、整理與交接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講師及另一位核對者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教學評量，核對附件與結果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F9D953F-059D-4DA1-A536-95D7097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手冊第4及8頁　建議方法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55E87D2-1D3A-4C35-90F9-0AEB8247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4995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CA9CF7D-1581-42BA-821A-7C6B178C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一場課程的完整管理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C29446A-F4DF-4716-9CB2-5867058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需求有來源，教學有方法，改善有後續。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14750"/>
                <a:gridCol w="5305425"/>
              </a:tblGrid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白話工作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留下什麼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確認需要與能負擔的安排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需求、目標及資源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排內容、方法與評量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教案及審查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按教案教，記錄實際狀況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出席、作品及異常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核對缺漏，決定怎麼改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分析與改善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確認學會、用上與帶來的改變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追蹤與原始證據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C85FD42-8BD0-415F-950D-C40E9735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手冊第5至18頁　建議方法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5F2E931-4433-44CC-AAF7-B34099A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68418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8453B82-FC6B-41B7-AB31-A247271C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  經營方向與目標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B86C693-C4D1-45F8-96E6-3DFB132D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核心優先，開課數量依真實資源決定。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CA1C427-4047-4AD3-B259-F87FBE3B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先盤點志工、講師、場地與收支，再提年度目標。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7467B231-360F-4F88-B354-B2D50976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BD02D9C-6390-44F2-9398-330C6D07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新課程先小班試辦，依需求和負擔決定是否續辦。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7716921-B64D-45A3-ADBC-B6260194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B1A90AB-F8AE-4AA9-AD10-53C507D0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三年規劃分階段，不把未核定班數或補助寫成成果。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E6B67EE-9E46-4046-971F-607DFF2C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74C1CF25-9865-4619-87D3-BC4AA9CE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查閱原件：核定策略、原始需求與年度目標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9C3C556-F730-48C2-941F-31F02F3F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手冊第5頁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C928F215-CBD8-4924-A863-C0F95206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98490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0A5B3A90-5F29-4294-81AA-0377586A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2  對外訓練品質政策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EFD8D9F-4055-47EA-BB82-8560567A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把參加條件、學習目標與安全界線說清楚。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F1CB51F0-CA7A-407D-B3EF-DAE90075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招生說明對象、費用、時段及取消或退費方式。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1C7236DC-01EA-4E37-8995-8A3EA9FB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CE34BF2-8AC9-4B42-BA68-9917C6EB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教材用白話與易讀字體，提供紙本參與方式。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A1B3CC3-7602-4E44-8965-2005746A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84C14DD-2DED-4AF8-9740-A321ED19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核定後再公告，不宣稱新政策已上網或已生效。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9EBDC8C-F8AA-47CF-88EF-B50D90FD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C6A928F3-A18E-41FE-AF60-1D54C0B2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查閱原件：核定政策、招生公告及成果標準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1642E70-596C-4748-B0FD-01739F28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手冊第6頁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FD59DA60-106A-434E-B65F-172189F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468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60129BD-441F-4DEF-AD9A-7BD29D58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3  核心課程與訓練流程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793F9E3-6198-4423-9885-121BB385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公益健康教育與社區服務先做穩。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C90C2D7-CFC2-4819-9051-5FA93F6A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健康自學、安全觀念、關懷接待與志工交接為核心方向。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BCCCD50A-237E-4CC8-B469-7DFA0E9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950E8B1-6C66-4E01-A77E-D8F9469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每班都有計畫、設計、執行、查核與成果安排。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1D56FBD-3842-44D4-9972-869CE5F2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5428F06-C8C9-4F20-B7FE-3410CFF2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其他職能課程須先確認需求與資源，未確認就先不開。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3CD10CB-4BF4-46BA-BE72-4FDBB0BC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BD6279B8-099A-4969-A9CF-CD8B342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查閱原件：課程類別、課程體系及資源確認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F23D42C-C3B3-4EDF-A91A-7A3593C3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手冊第6頁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E1D5F802-9754-4516-B834-1D79F13B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712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A8A475D2-38A1-4A0B-8B33-4938F2F9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4  文件與版本管理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B87975C-B384-4F12-B5A0-EB400496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一份主檔保留最新版，舊版與決議可追查。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67A6C3E-F6EC-4939-BD76-8D3AA32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手冊、課程程序、原始紀錄、分析改善分層整理。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C03D55E0-4264-4110-B639-A0F64A5B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264FD79-A455-4FE2-9E32-00337606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修改寫清楚原因、確認者與實施日，留下舊版。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F96196B-D242-45E0-87EB-5602A710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36349A4-2617-41DF-946A-D18F5741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編製日期不等於本會核定日期。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66C913B-CF32-4848-BF05-50414299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7E9FB610-AC69-410D-818A-BE3DFF7E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查閱原件：核定手冊、版本與公告纪錄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2DC0259-D8CF-41A5-AF3A-E1B9F09C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手冊第7頁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61092E03-AFD8-4C46-BA79-E683670B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529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A618713-C9BB-4763-88E5-02C8B74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5  課程與經營目標的連結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795785E-2C47-43CA-8017-58CDC62C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每一班都要說明幫協會或學員解決什麼問題。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4305EC4-1C97-46B2-8B83-E04F1251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例：接待說不清楚，先確認困難，再設計情境練習。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60F9DF1A-B9F5-4873-98B0-6EFB1EFD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25BB535-3F37-49FE-AD08-AEFDECF3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學習目標寫成能完成的工作，再用作品或實作確認。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5E0D69B-B7B0-4979-B7E2-13F95BF2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1F7E428-D76E-4C3C-BD0A-E014829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志工時數也列入負擔，無薪人力不能無限增加。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57EB056-3F4B-4111-9B98-D6696A2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667E4CC-F706-45C7-98A8-5A4C4867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查閱原件：經營目標對照教案與行動方案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BC8434B-579F-46BD-88AD-1BF5432F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手冊第5頁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43FD988D-4AB0-43AB-B2AF-32A32A1E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905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A2DD196-29BE-427F-8F5B-5D4E7603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6  志工辦訓能力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AAAA214-5B49-4EDD-9E4D-356A731C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用實際操作確認能力，安排需要的帶班。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CD28343-90BF-469B-BFBA-C2F4AF31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觀察通知、簽到、安全、個資、統計及交接能力。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37E324E6-00BB-4733-AD17-31D4EFB8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44766F8-339C-431E-ACEE-B0508A5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不會的項目先跟班練習，再用作品確認。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EE47993-D546-4403-A15D-5B42D487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2CF7994-CD0A-443F-B333-E7758737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沒有備援就減量或改期，不虛設專職部門。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F020BD0-62E9-4D0F-9642-26BA6145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45AA0D4-4A8A-42B4-B4E8-4E220CA3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查閱原件：實際分工、受訓證明與能力評量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31AB1AFF-4122-49BC-8B73-D306379F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手冊第8頁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90F47EEA-128D-405F-A4F6-BEB4884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46878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FAA3F80-EA44-493F-8740-1AF8B855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7  需求與能力落差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CF5AA37-C722-4DA2-86CA-345C19D4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先問想做什麼，再找目前做不到的步驟。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7C40B85-A7CB-49FF-BF5A-22BE2017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使用紙本、電話或課後意見，保存需求來源。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4B3B3F7D-8A5A-45CC-86BB-0AE121EE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2BFC560-6443-4EF3-9BFE-C79275A6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區分學習問題和時間、場地、人力問題。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6D8737F-E665-433F-90AC-8EBF8775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A7FD837-B387-4CED-9722-181BCD9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未答與未回覆另列，不補成滿意或通過。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9065C39-8137-47F3-8730-CA40AD94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8687EA0E-CC66-4FBA-BFF1-BBBF5FDA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查閱原件：需求原件、能力盤點與分析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34F06B7D-7C86-4EE4-AE1D-3FE73F8A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手冊第9頁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F04E6340-DD49-411D-9409-3751918A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463186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02D24168-1CF1-4948-8039-E47C35BB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8  課程的完整設計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D481167-14D2-4AF8-9391-C4D53230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一張教案排清楚目標、單元、方法與評量。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2604745-756C-47A4-98AF-577D37EA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說明對象、時數、講師、教材、環境及補練。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D23343A7-3444-4951-B31B-D54F85FB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0B67370-A67B-4912-92C7-97461302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先示範，再讓學員練，最後用同標準確認。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A527097-E3E6-4067-92B6-6EEFBBD5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B295421-DD2D-4777-9770-7FEB53D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變更時數、師資或場地，留下理由與通知。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F840DEB-109F-4DD3-BFC4-AFC4D17F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A9D1ACE3-D225-4E96-A7E5-E69A4E1E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查閱原件：教案、設計審查與修正紀錄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4365CC1-4C07-4ECC-83A8-C553022C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手冊第10頁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083D9FD3-5A21-43A8-B94C-3F60DF9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19570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2A4D995-9764-4404-976C-1CBBA59E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9  學員與相關人員參與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E1E4781-1538-4639-B431-E1D89C48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學員、講師與志工在課前就能提供意見。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B237A3B-F5AE-4B78-B0EF-3186CAA4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小型討論或電話也可，寫日期、角色、意見與決定。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19867781-C1BB-4C0A-889B-696C61DE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038A812-6D60-4B3C-9E19-B3D4E9ED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記錄採用與未採用原因，回覆提出意見的人。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BD41BA7-7413-4446-ACF4-89C6AB11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A0E3BEB-049E-4E49-8385-146B3958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一個人兼任角色，不等於所有人都已同意。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56C90E3-46D4-45EE-B9D8-8B9BE0FF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A90C6428-B4AE-4B4E-91A0-581ECDE1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查閱原件：訪談、討論意見與採用紀錄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F9CD26A-53E5-4271-B2CF-0DDC3F83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手冊第11頁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92641EC7-6DE4-458B-ACC2-63A5561A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317815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BE1B1B3-CED1-4C6A-8C92-3FED7C16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10  師資教材與採購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F6F60B5-C360-4DED-84EF-B30924BA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適合課程、可負擔、來源與權限清楚才選用。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BBDF83E-0E45-4DF1-B06E-BEEE829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講師看相關作品與試教，不自行加上資格。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CE8414F8-5305-4381-8A3C-699F8442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7B657E6-8636-4C2D-BA64-426E9933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教材檢查來源、安全、可讀性及使用權限。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E5CA073-FD5E-4F3C-AA1F-47301BCE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959E011-E493-49F9-97C0-1D46EA7D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先確認預算與授權，再約定、點收、付款與檢討。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23356D-90B3-4CC1-92C6-0BC86AA5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8D96944A-F0C9-4087-8AD5-F85399BF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查閱原件：講師資料、報價、授權與支出憑證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5C8848A2-C1FA-48FE-9B51-DAAEEA87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手冊第12頁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5A459918-4FFA-4CF6-9137-29F67BF3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93579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AECA37C-893B-4908-AF8E-63608EBC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11  需求與課程的對照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590B7CC-4C56-4262-90BE-32EDC50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每項需求都找得到對應的單元和產出。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306F0A5-333D-4336-80B3-0F65FE59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接待說明需求，對應角色練習與個人檢核。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E237D3A3-FF0E-4CE2-8E17-AF1DBDA6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CE8B6EA-6B9F-42B4-A42B-9BC140B6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資料交接需求，對應整理練習與交接單。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74720DA-1C74-453A-B7E7-8BFE828F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AA168E1-8314-41F2-AD2A-8A9546AC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課名好聽還不夠，要能看出學員實際會做什麼。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627CF4F4-5216-4C81-9866-2638BA15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160BDD18-2182-47B3-B3E5-77812447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查閱原件：需求與單元及作品的對照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8270FAA4-09B2-4A6D-B3F7-29684A6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手冊第10頁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72BBAC32-CDE7-4661-BD29-F77D812C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548463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8915403-584E-46DE-AE89-96A48CF8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12  按計畫執行課程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4368AE7-F484-4F9F-8AD7-A3F3446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核對學員、教材、師資、方法與環境五項。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35CE69D-7031-4E33-824D-7C6BC5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課前確認實際資源與學員條件，再決定開班。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4BE98665-88DA-47F2-BD10-A1A9385E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7056378B-852A-43EA-AC36-7A0F50F4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課中記實際內容、到離時間、教材版本及異常。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7F02E57-261A-490A-9D59-3888541B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6930482-BBDD-4F5F-86AD-BB193236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課後分開首次評量、補測與最終結果。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DC80FDF-7BB5-47D2-A1BA-BF7BFC3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D0752A2B-9DBD-4971-A775-56E296D2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查閱原件：錄取、教材、師資、方法及場地原件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78EE192-4A12-4DB2-96D3-A1B6459E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手冊第13頁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C39556D1-181B-414F-8CBB-14C241D2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317814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0BB0DBD-EB17-4160-A345-39062BED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13  學習後的實際運用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BA2892D-8267-44D2-BE6D-5E9E15A8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學員選一件可以在生活或工作中用上的事。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A1863150-C2D5-4EFF-84BF-14D06998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寫行動、時間、場所、紀錄與需要的協助。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8DD523BB-30F4-4046-8CF8-53D1DBA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60C7E32-B412-4D25-8414-FAE5F589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安排可負擔的關心、跟班或補練，保存追蹤。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12FD80F-BFC0-419D-A1AB-C18EA299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746A326-8E3C-486D-AD50-4B864307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自述與觀察分開，未回覆不算失敗。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50E4396-4922-445D-B344-B342822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6AEA158-24CA-4819-B33A-C2B73A4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查閱原件：行動計畫、協助與追蹤紀錄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B188B20-0523-4178-87AA-1A9BB318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手冊第14頁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31E50B3B-3AB6-4D03-AE6F-79A16ECD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814482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F2362A71-1AC5-48B4-8FB2-49539183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14  資料分類與保存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AFDCEB1-802F-4F34-AACD-ADF89E6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一個課程代號串起課前、課中與課後。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E853047-CE9C-4BA1-9E47-A90E1368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保存原始問卷、作品與簽到，統計不能取代原件。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63B084D2-CD58-402B-9634-F43FCFB6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6E13BA8-4069-4E1C-B1E5-40BF08F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內部名冊限制存取，查閱版遮蔽非必要個資。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BB817E8-A5AA-458B-9BB9-6E41EA73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11840E8-27E1-4601-8A3E-BC15F85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交接說明未完成事項，備份後實際試開檔案。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208E90A-BF10-4756-99C7-699BBD3B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9F681A7-978A-4B9F-81E3-0F66644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查閱原件：分類主檔、索引、權限與備份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4A4BD25-4681-4127-BCDA-56393B95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手冊第7頁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4C1AAC95-3E28-4B73-A024-832F39EA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599451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ADA6766-37F5-408C-AAAC-A7902FBE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15  課後檢討與定期分析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264EE97-BD41-4296-93AA-12846DD8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檢討要有問題、改法、負責角色和再確認。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17F8A2B-B0D3-4E96-825C-EDE558C6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每班看需求、出席、評量、意見、費用及異常。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8969EE51-371F-4B21-9D10-18FB02F2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C8B970B-53DF-4ACB-8751-001F05ED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每季盤點，年度再檢討資源與課程方向。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39B46075-FC4D-42C1-ACCF-0E78F158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ADCA12B-8576-4318-ADDA-A55009CE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不同班先確認比較條件，完成新版仍須驗證。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C5305A1-0F18-4655-A4D0-666CD6D8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175A6D27-84B4-4E17-9870-C3E85DE2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查閱原件：課後檢討、定期分析及改善再確認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66BF164-0192-4BDB-8FAC-072DFF21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手冊第15頁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FD3FB235-E55E-4F7B-BDA6-CFABC5C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684669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C4D4F6C-AC59-4F70-928F-279D4783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16  異常處理與查核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7924563-409F-44E9-8FEA-821C0574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先保護人，再處理問題與預防重複發生。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7E4713E-AD80-4B29-A35C-D0AD09C2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危險先停，必要時119求援，不由志工診斷。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AC57D4AE-2A85-45B1-A513-BD32BAE2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F615058-E160-4980-996C-553E50FA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問題寫事實、影響、處置、原因、改法及確認者。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47F0FF7-5BF8-4AD8-857B-F2C2E98D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1CAA39E-C19F-4CDC-A170-B5FFBEAF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另一位指定者核對，外部意見只引用真實紀錄。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3AAD982-3E69-4ADD-9982-664CA2B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0AC6E03-ECBF-4982-8F5D-913BCD5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查閱原件：課前中後檢核、異常與內外查核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87AF1710-A4F7-4E7C-B2E8-96F1BDC6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手冊第16頁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F8BA17D8-D35C-4FEA-AB1E-686C97CA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831043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84B33503-08E5-4811-9808-849EB5C2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17  四種成果評估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89DC437-D0E6-4733-AF6D-46F7BD33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分開看感受、學會、運用與實際改變。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767DF68-4D2E-4FEA-92D4-E050825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反應：問卷與回饋，接到教材及服務改善。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A20FC2AB-4062-408A-945D-5BE0431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C603610-5719-4485-A0CD-84720167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學習：作品或實作，接到補練與教案調整。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C4CA14F-68CE-4A45-B46A-D7BFE955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22B5FB3-FD31-4264-A75C-F31E6C40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行為：課後使用的觀察或自述，注明來源。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72AEA64-514B-4986-9D4C-3972A430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1828AFC0-16C6-48CB-B274-F184DE9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成果：同類工作前後紀錄，說明其他影響因素。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9B498A24-C383-4BD0-81EF-D289ACBA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1" name="body-4">
            <a:extLst xmlns:a="http://schemas.openxmlformats.org/drawingml/2006/main">
              <a:ext uri="{FF2B5EF4-FFF2-40B4-BE49-F238E27FC236}">
                <a16:creationId xmlns:a16="http://schemas.microsoft.com/office/drawing/2014/main" id="{6433EE98-BB4B-4919-9F4A-69DAA36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查閱原件：問卷、實作、行動與成果原件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5F5BF53-8F95-4A52-816A-6268F8EE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手冊第17頁　建議方法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493BA856-3FAF-47A5-9BF1-31E23168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338055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AB3C4125-3687-4805-BAE8-69247082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18  學員與客戶的評價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5E0E0CD-B977-428F-9AE1-A0D7D0BE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好評要接到可以查的能力或工作變化。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E8E87F7-FE06-46E7-8905-13982049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保留學員原話、作品或經同意的觀察紀錄。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FE7913CB-F893-4DB9-AA06-A4F6AD5E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B37B0E6-B3EE-44D3-9132-632BCB02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自我覺得有進步，不能改成他人已驗證。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7F9B596-4CDF-4B83-9307-ECA6BA99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244897B-D603-4262-B97F-A77A1995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未確認的就業、收入、療效與感謝函不列成果。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AAB03E2-3480-4C61-9390-3F58534C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C61B6BE-02AC-4989-B6A6-D5E07BA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查閱原件：學員評價及可驗證的能力或工作改善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79ABB65-EEDC-44B0-A70F-E8483A71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手冊第18頁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22A8EAB9-F949-44F4-9E4C-F627FCC9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099136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7433CA0-990D-48E3-BFA7-3A11B6C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指標 19  課程對社區及協會的價值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91FA0E7-7BAE-43B8-93D4-F0216867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看實際受益與資源負擔，不只看活動人次。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CC51987-CEF3-45DD-803F-5B15F1CF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查學員使用、接待與交接改善及社區需求回應。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0EE01529-7944-4F26-B764-1D8F89C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E89AE71-27F1-4A1A-A3C7-36C48F8F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收入減直接支出是直接差額，還須說明共用成本。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AEB85876-C7B4-49B3-836E-7B480197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ECE4A29-7906-435A-85B2-3C609C5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志工時數另列，課程應支持可持續的公益服務。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8D7BFA8-21A8-4FB0-8CA8-DC09DCCA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BE3B55E-F3FC-433D-9C72-D10ADA29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3938"/>
            <a:ext cx="10972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6C68"/>
                </a:solidFill>
                <a:latin typeface="Microsoft JhengHei"/>
                <a:ea typeface="Microsoft JhengHei"/>
                <a:cs typeface="Microsoft JhengHei"/>
              </a:rPr>
              <a:t>查閱原件：實際價值、帳冊、成本與社區回饋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DAD4921E-B61D-4044-8FF1-620E8B90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手冊第18頁　建議方法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8FBEA835-66E4-49CA-8399-A5626D89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240033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FF17B01-7279-42E0-9C3E-82869A11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填寫示例  一場課的評量紀錄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1E644EC-87E1-4CA7-AF6E-4F46F5BB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首次結果與補測結果分開，缺課不填成0分。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14750"/>
                <a:gridCol w="5305425"/>
              </a:tblGrid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統計階段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虛擬示例數字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怎麼讀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</a:tr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首次出席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8人報名，7人出席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7除以8，87.5%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首次受測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7人受測，6人達標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6除以7，85.7%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補練補課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1人補測，1人補課後首次受測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保留各自的紀錄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8人完成，8人達標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不回改首次85.7%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A112663-A768-427B-8664-DCAC437C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虛擬示例，不能作為本會實績。手冊第28至29頁　虛擬填寫示例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E2C866-E47E-4EAE-B526-D3D4ACC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787413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9D0A6CC7-761F-4C09-9059-35CA0525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填寫示例  前後比較與追蹤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D2453F3-637F-4124-9A15-5694F066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同一組學員、同一套標準，才適合比較。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AC1D750-B65E-4B90-B774-CD95CF9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同一組示例：7位有完整前後資料者，課前2人達標、課後6人達標。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3D09AB6B-9611-44B1-A147-ABFA37A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8EF7D61-EC3D-4C25-A612-6717BBBE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28.6%到85.7%，增加57.1個百分點，也就是多4人達標。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4FA17DC-C155-4CB9-9FB4-5F1B9C4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7894CA5-0927-4458-BA09-34844054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追蹤示例：6人回覆，其中5人自述使用，另2人未回覆。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6608BA47-E3A5-4A0F-9FB9-91DF5304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2D26D77-7987-477A-8577-61005371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3938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5除以6為83.3%，只代表回覆者自述，不是8人皆已使用。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D11E7CC7-CD77-4BD9-8633-82696ED2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3463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26C99BF-3094-40FC-9C3D-1114540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虛擬示例，不能作為本會實績。手冊第33頁　虛擬填寫示例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1D27DA67-8389-4411-82F8-E86E644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567378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E4167B-1944-4E56-A9DA-FE6BAA0F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填寫示例  改善如何留下證據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B484E27-DFF8-4E06-A03A-44E78E0B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新版教材完成後，還要看下一次實際使用結果。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14750"/>
                <a:gridCol w="5305425"/>
              </a:tblGrid>
              <a:tr h="892969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示例問題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這次修正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下一次確認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</a:tr>
              <a:tr h="892969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講義字偏小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改大字與短句，保存第二版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同一題回饋及實際閱讀反應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2969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練習時間不足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10分鐘講述改成練習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同標準檢查作品與達標結果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2969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安全說明漏項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提供提醒單與補練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實作評量及帶班觀察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BDE5897-4E3F-4294-9B28-9770C1D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虛擬示例，不能作為本會實績。手冊第29至32頁　虛擬填寫示例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257F7A-2182-4169-8C2E-8D06669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449739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06C2F17-563D-4403-8B8D-5B923E9E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委員查閱的優先順序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69F1AB8-DC64-48C7-AF04-E59D7CD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規則說明工作方法，原件證明實際做過。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14750"/>
                <a:gridCol w="5305425"/>
              </a:tblGrid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查閱內容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手冊位置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執行時須補的真實原件</a:t>
                      </a:r>
                    </a:p>
                  </a:txBody>
                  <a:tcPr marL="91440" marR="91440" marT="45720" marB="45720" anchor="ctr">
                    <a:solidFill>
                      <a:srgbClr val="E8F0ED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方向與分工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4至8頁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決議、授權、需求與能力證明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設計與執行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9至14頁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教案、師資、場地、簽到與作品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查核與成果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15至18頁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異常、分析、問卷與追蹤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表格填寫方法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20至33頁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示例改寫後的本會原始紀錄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19項指標對照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34至35頁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各指標的資料來源及頁碼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74AEAFD-C2FB-4E3C-9641-F2C85CB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手冊第34至35頁　查閱導覽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277470A-5339-415D-8E78-CF41FDDB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885481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C690EB99-7377-440E-A50B-7BFF6CD5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43A3B"/>
                </a:solidFill>
                <a:latin typeface="Microsoft JhengHei"/>
                <a:ea typeface="Microsoft JhengHei"/>
                <a:cs typeface="Microsoft JhengHei"/>
              </a:rPr>
              <a:t>正式採用與後續工作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B0570D5-C290-4D4A-89B8-2C9DC35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用真實紀錄把管理方法變成可查的運作。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A57614C-18E3-48B6-AA09-A94D1B51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確認本會角色、授權、場地、教材權限及費用安排。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22A2339E-33D6-4BD9-A596-B5596D77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64E68C1A-FDDA-4A25-A09F-7EF82FC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1813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由有權者審議本版，保存決議、公告與實施日期。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28182DF-54AE-428F-8E3B-9C7D0AE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9F7FFBC-6C8C-4294-BB62-B6ED6BC3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每班使用一套表，原始紀錄留下，缺漏如實列待辦。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762586D-6E9A-4FB5-B8EF-DFFA3E0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3B8796C-9F3A-4228-B87E-8AD934DB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3938"/>
            <a:ext cx="105918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6313B"/>
                </a:solidFill>
                <a:latin typeface="Microsoft JhengHei"/>
                <a:ea typeface="Microsoft JhengHei"/>
                <a:cs typeface="Microsoft JhengHei"/>
              </a:rPr>
              <a:t>以實際改善與學員運用回饋調整下一班。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700D3DBD-6046-4221-B914-3B569D5C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3463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77A74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91F5E72-B207-4DF1-9374-F724F852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手冊第36頁　待本會確認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CC3C0523-11DD-45AC-A615-D8910B26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36A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76754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2026-10-05T16:03:22.3930000Z</dcterms:created>
  <dcterms:modified xsi:type="dcterms:W3CDTF">2026-10-05T16:03:22.3930000Z</dcterms:modified>
</coreProperties>
</file>